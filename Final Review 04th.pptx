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E492-64C9-C3E5-5B03-EA80B7E8B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75EF7-4F70-1A49-23EC-C4E831F75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0DD3-10BF-EF8F-51A8-F03137E82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1FE03-9760-2A89-57A7-C313ADAC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E142-0EDB-0D45-1310-BFC8DD44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3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3738-4B99-5189-CB64-914673C7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1087-A8FA-C27B-74EE-8135AEB8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C9D11-3E78-0C85-83DA-28460C6A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88B0-38D6-6D25-518B-0A34BCC0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030B1-7012-E937-7693-AF905681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79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4BF2-34AD-34C1-1103-A738C99C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FEA0-77F7-680A-E10B-DAC7C2F8E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956FD-A192-CAEA-5B4F-08D3BCB8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58AA9-44FF-369D-FDD5-32C11E0C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A97E8-6DBA-1515-D6D2-24259A2A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0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AD7B-273D-36E8-3342-BF5F6FF3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575-2F7C-6D71-B088-628853E79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B22B6-9D79-D02E-8E30-EEB08F6CD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C11CA-A163-4EB7-6CD9-FCA24D1A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1FFAF-3CB3-3B77-A423-9AA4911E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3AFC6-218C-4E03-753A-65E1904B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95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089F-F515-2E8F-3F3A-85DCB8CA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8C36A-E948-B503-54C3-654143E83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88BED-D55B-D551-C563-E6FAA1994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B07F3-6D85-64EE-2BD2-DA39E8FC0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CE5EA-C5DB-322F-827A-AD3B43608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A74FF-FE24-A132-FF5D-B4F88C63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AB80C-A770-38F1-2593-460E5871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CF52E-80CC-CC94-9842-AB11DF4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5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9ECF-CC4B-0F5C-0C50-18CAE6E2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07D86-9F53-E940-7DA8-79A849B6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4585A-A7F7-5353-7A62-CF454477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EBB5-3FF0-2C59-B84F-556EE896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76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B79AB-4A3E-1742-D578-D0EC62F4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D6FB2-3E96-4655-DECF-D3E699B4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9B4C4-71D7-F46A-432B-1D27F5AE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93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B8D4-C310-B505-B016-B5AD2658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835B6-3E00-282A-7876-940CE1C98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45DC2-4887-A0FB-74B4-4A7F5D4F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6B606-DD46-EDBC-0FF4-5C3D0CD8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F2F48-DBED-97A1-2A1C-3EC89008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4E4DF-54A7-F9F5-0ACF-3C40759A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33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CCA3-17E9-1579-AFB2-B8A943C7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3DF20-C622-8829-1BF4-D7EED7B14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72F79-4CD0-B241-E6FE-71D0D9522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1AE5-2135-9863-B7A2-C998D837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FBB76-6E05-F68D-4060-1A541A18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A3C75-A330-573B-D4C8-9E68A25E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7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527F-051E-D521-6036-F0F0EC8EB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B7124-F270-1BAC-CDA1-CCA36C719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9C7A-8E3C-5957-0F7A-DEA128F1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FB80A-953F-FC22-1F44-0ED5FF86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725D-A627-4328-191C-58F089376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9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F6867-4440-367C-9EFC-D1541F47B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F26FE-7F8A-EA6B-1936-375FA03A5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6CD0D-A6D5-320D-6D4A-FB1DBB9F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0E2F4-01EC-5435-49DC-BF05BE22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D24C-A0FC-0765-2114-5CD49DC4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75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34C0ED-A4C0-ABD3-8ACC-347EB5DB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645CA-1FB3-A3FF-315B-129B2CEE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952A3-2610-7C76-2491-D97455D9A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978D5-3D39-4C56-B675-B1EFFC821E9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911B-FB9B-A2FE-EA30-7A3E1866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9BB3B-29D6-43C5-B28F-368A3D3F0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97F58-0064-4064-92BF-7F46818369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97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32970A-512E-BF77-74AB-7FD4DDE48576}"/>
              </a:ext>
            </a:extLst>
          </p:cNvPr>
          <p:cNvSpPr txBox="1">
            <a:spLocks/>
          </p:cNvSpPr>
          <p:nvPr/>
        </p:nvSpPr>
        <p:spPr>
          <a:xfrm>
            <a:off x="3211447" y="1440506"/>
            <a:ext cx="5729618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C00000"/>
                </a:solidFill>
                <a:latin typeface="+mn-lt"/>
              </a:rPr>
              <a:t>Fourth Review</a:t>
            </a:r>
            <a:r>
              <a:rPr lang="en-US" sz="4400" b="1" dirty="0">
                <a:solidFill>
                  <a:srgbClr val="C00000"/>
                </a:solidFill>
                <a:latin typeface="+mn-lt"/>
              </a:rPr>
              <a:t>  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A2661-3EAE-34FB-2628-B852A8410763}"/>
              </a:ext>
            </a:extLst>
          </p:cNvPr>
          <p:cNvSpPr txBox="1"/>
          <p:nvPr/>
        </p:nvSpPr>
        <p:spPr>
          <a:xfrm>
            <a:off x="409110" y="2584813"/>
            <a:ext cx="1133429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02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IN" sz="2400" dirty="0"/>
              <a:t>B. Dharaneshwaran, A. Harish, R. Dharaneesh, R. Gokilnathan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MECH, Knowledge Institute of Technology. Salem.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dirty="0"/>
              <a:t>Prof K.N. Karthick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05.05.2026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18F2611-17BA-1669-1AE0-F9EE08E7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E8BEE8B6-373C-2FB2-EBFF-7FB1135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8" name="Date Placeholder 12">
            <a:extLst>
              <a:ext uri="{FF2B5EF4-FFF2-40B4-BE49-F238E27FC236}">
                <a16:creationId xmlns:a16="http://schemas.microsoft.com/office/drawing/2014/main" id="{F12163B0-C815-9621-BCAF-4752A9D7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A42D6A8-AF7C-4F41-B589-0F714FD698FB}" type="datetime1">
              <a:rPr lang="en-IN" smtClean="0"/>
              <a:t>05-05-2026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41D72-9654-756C-9387-037DE86F6270}"/>
              </a:ext>
            </a:extLst>
          </p:cNvPr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>
            <a:extLst>
              <a:ext uri="{FF2B5EF4-FFF2-40B4-BE49-F238E27FC236}">
                <a16:creationId xmlns:a16="http://schemas.microsoft.com/office/drawing/2014/main" id="{27711BBF-1C20-AE49-BD59-B35EA18E1B0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9C8C7A-8EA1-71B6-2B71-8643CE22F1FE}"/>
              </a:ext>
            </a:extLst>
          </p:cNvPr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684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D34C-A444-486A-79F9-AA9BF929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286" y="312988"/>
            <a:ext cx="6293427" cy="76748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JOURNEY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8CA360-9A53-64EB-247E-D0473BAFE1FB}"/>
              </a:ext>
            </a:extLst>
          </p:cNvPr>
          <p:cNvSpPr/>
          <p:nvPr/>
        </p:nvSpPr>
        <p:spPr>
          <a:xfrm>
            <a:off x="4627416" y="1395710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 from farmers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820216-5787-6B2B-49FB-727326585004}"/>
              </a:ext>
            </a:extLst>
          </p:cNvPr>
          <p:cNvSpPr/>
          <p:nvPr/>
        </p:nvSpPr>
        <p:spPr>
          <a:xfrm>
            <a:off x="4627412" y="5759875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working model achieved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1A0CDA-5522-A5A6-8EB2-AA7A6C03826E}"/>
              </a:ext>
            </a:extLst>
          </p:cNvPr>
          <p:cNvSpPr/>
          <p:nvPr/>
        </p:nvSpPr>
        <p:spPr>
          <a:xfrm>
            <a:off x="4627413" y="2268545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concept developed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6B82C5-7CD6-7ABC-9386-C7AC557A4934}"/>
              </a:ext>
            </a:extLst>
          </p:cNvPr>
          <p:cNvSpPr/>
          <p:nvPr/>
        </p:nvSpPr>
        <p:spPr>
          <a:xfrm>
            <a:off x="4627414" y="3141380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model created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C210489-3704-FFB8-9973-BB7305E7DA53}"/>
              </a:ext>
            </a:extLst>
          </p:cNvPr>
          <p:cNvSpPr/>
          <p:nvPr/>
        </p:nvSpPr>
        <p:spPr>
          <a:xfrm>
            <a:off x="4627413" y="4887045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modified based on mentor suggestion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82A851-ABE0-A89A-9C9A-81D1023BE879}"/>
              </a:ext>
            </a:extLst>
          </p:cNvPr>
          <p:cNvSpPr/>
          <p:nvPr/>
        </p:nvSpPr>
        <p:spPr>
          <a:xfrm>
            <a:off x="4627413" y="4014215"/>
            <a:ext cx="2937163" cy="613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developed</a:t>
            </a:r>
          </a:p>
        </p:txBody>
      </p:sp>
    </p:spTree>
    <p:extLst>
      <p:ext uri="{BB962C8B-B14F-4D97-AF65-F5344CB8AC3E}">
        <p14:creationId xmlns:p14="http://schemas.microsoft.com/office/powerpoint/2010/main" val="306499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FF81-91F8-9B3D-D320-FB3C37BB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826" y="326188"/>
            <a:ext cx="6990347" cy="902201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5E1C-5213-82D2-96B9-68EB9C70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604" y="1825625"/>
            <a:ext cx="9444789" cy="16033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Coconut farmers face high labor costs and difficulty in weeding. Existing machines are heavy and may damage roots. A lightweight, safe, and cost-effective power weeder is required.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93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A030-77F3-889A-A615-576C6C34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147" y="417096"/>
            <a:ext cx="7507705" cy="713876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ISSUES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D41B5-EC2B-D4A4-3B08-DB1B584CF63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83255" y="1905506"/>
            <a:ext cx="590349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machines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damage risk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small farms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Bulky and less portable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Engine-driven and heavy </a:t>
            </a:r>
          </a:p>
        </p:txBody>
      </p:sp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A6D590D4-E475-1BE3-AD2A-A8F40540242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111" b="10111"/>
          <a:stretch>
            <a:fillRect/>
          </a:stretch>
        </p:blipFill>
        <p:spPr>
          <a:xfrm>
            <a:off x="6096000" y="2413808"/>
            <a:ext cx="2453532" cy="2030384"/>
          </a:xfrm>
          <a:prstGeom prst="rect">
            <a:avLst/>
          </a:prstGeom>
        </p:spPr>
      </p:pic>
      <p:pic>
        <p:nvPicPr>
          <p:cNvPr id="7" name="Picture 2" descr="Autofarm Power Weeder TT V2 Pro (Papaya Field) - 9626883388">
            <a:extLst>
              <a:ext uri="{FF2B5EF4-FFF2-40B4-BE49-F238E27FC236}">
                <a16:creationId xmlns:a16="http://schemas.microsoft.com/office/drawing/2014/main" id="{E134E3F0-518F-56C5-67BA-56D8BA246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2" b="13863"/>
          <a:stretch>
            <a:fillRect/>
          </a:stretch>
        </p:blipFill>
        <p:spPr bwMode="auto">
          <a:xfrm>
            <a:off x="9087397" y="2277882"/>
            <a:ext cx="2453533" cy="216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33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DE18-BE12-C5E7-B86E-170FA4312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194" y="294105"/>
            <a:ext cx="5947611" cy="77386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441A0F-6FAD-EB4D-5CBB-B0F42A40B1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043" y="2151727"/>
            <a:ext cx="632831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power weeder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Spiked disc mechanism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design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operation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operate and maintain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CFBBB-2598-F18F-F8D9-631D60336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0" t="20095" r="21248" b="18987"/>
          <a:stretch>
            <a:fillRect/>
          </a:stretch>
        </p:blipFill>
        <p:spPr>
          <a:xfrm>
            <a:off x="7819781" y="2151727"/>
            <a:ext cx="3078723" cy="25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1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6A5D-B81A-4A95-F36B-8414896C9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473" y="256380"/>
            <a:ext cx="6491454" cy="8239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EVOLUTION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2CB13-C50F-5D5B-9296-0FC00CE41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1285"/>
            <a:ext cx="2086685" cy="438381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3E027-3A6D-49B2-6932-D4669238E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104024"/>
            <a:ext cx="5157787" cy="214713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traditional cutting blade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maintenance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risk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complex fabrication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A0D10-E240-9646-B2EC-8905E2042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1285"/>
            <a:ext cx="2086685" cy="438381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DDF05-4CC2-40C9-6AD9-49058A40E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3" y="2104024"/>
            <a:ext cx="5183188" cy="214713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blade with spiked disc (bolt-nut type)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replace and maintain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operation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8DAD7-D0B5-E94B-3E6F-FA6211C89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52" y="4482125"/>
            <a:ext cx="2759242" cy="19008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15709D-7517-7639-DB06-98C0F7606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542" y="4482125"/>
            <a:ext cx="2759242" cy="190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4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401FDE-3F63-D592-DA89-1ED32C6EA426}"/>
              </a:ext>
            </a:extLst>
          </p:cNvPr>
          <p:cNvSpPr txBox="1"/>
          <p:nvPr/>
        </p:nvSpPr>
        <p:spPr>
          <a:xfrm>
            <a:off x="3323798" y="224589"/>
            <a:ext cx="55444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CAD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8FF1A-4E70-A44B-B274-0D25AF393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781" y="1382878"/>
            <a:ext cx="2864034" cy="1892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D7244-1804-F5FD-2D10-F3922D9B8E99}"/>
              </a:ext>
            </a:extLst>
          </p:cNvPr>
          <p:cNvSpPr txBox="1"/>
          <p:nvPr/>
        </p:nvSpPr>
        <p:spPr>
          <a:xfrm>
            <a:off x="2614790" y="3397490"/>
            <a:ext cx="141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AB60C-AC6E-9642-121F-09C648C6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184" y="1382878"/>
            <a:ext cx="2864034" cy="18929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2A973A-0930-77A3-697A-1FAD86BCA75F}"/>
              </a:ext>
            </a:extLst>
          </p:cNvPr>
          <p:cNvSpPr txBox="1"/>
          <p:nvPr/>
        </p:nvSpPr>
        <p:spPr>
          <a:xfrm>
            <a:off x="8159196" y="3397490"/>
            <a:ext cx="177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422719-4888-881D-4DD2-3ACBC76EF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184" y="3903388"/>
            <a:ext cx="2864034" cy="1892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E1695C-0974-9653-60B5-AFDDFE8CF1A9}"/>
              </a:ext>
            </a:extLst>
          </p:cNvPr>
          <p:cNvSpPr txBox="1"/>
          <p:nvPr/>
        </p:nvSpPr>
        <p:spPr>
          <a:xfrm>
            <a:off x="8335621" y="5932922"/>
            <a:ext cx="141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4C028-0163-2E30-46E4-24A2016B2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781" y="3903388"/>
            <a:ext cx="2864034" cy="18929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6B9CC9-C5F3-C466-C217-6EEC10BA23A6}"/>
              </a:ext>
            </a:extLst>
          </p:cNvPr>
          <p:cNvSpPr txBox="1"/>
          <p:nvPr/>
        </p:nvSpPr>
        <p:spPr>
          <a:xfrm>
            <a:off x="2152687" y="5932922"/>
            <a:ext cx="234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 VIEW</a:t>
            </a:r>
          </a:p>
        </p:txBody>
      </p:sp>
    </p:spTree>
    <p:extLst>
      <p:ext uri="{BB962C8B-B14F-4D97-AF65-F5344CB8AC3E}">
        <p14:creationId xmlns:p14="http://schemas.microsoft.com/office/powerpoint/2010/main" val="420672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C89E-3B86-D9A9-333E-3BE5D193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868" y="284914"/>
            <a:ext cx="6958263" cy="85407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PRODUCT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2ADB1-6E34-6338-7C8B-0F0639AB9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6" t="6655" r="26296"/>
          <a:stretch>
            <a:fillRect/>
          </a:stretch>
        </p:blipFill>
        <p:spPr>
          <a:xfrm>
            <a:off x="933405" y="1780674"/>
            <a:ext cx="4569037" cy="4186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2BE0B-00B8-BCCB-6601-F554F7397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559" y="1780674"/>
            <a:ext cx="4569037" cy="41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1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6FD9-D25A-1A00-3CA2-44C39798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394" y="176817"/>
            <a:ext cx="8995611" cy="100844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D832-FB16-CA15-F822-0DE9706B1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536" y="2086244"/>
            <a:ext cx="5181600" cy="210074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labor cost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handling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coconut farms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757BD2-7ECA-0B20-2F63-8EEB9171F4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14663" y="2086244"/>
            <a:ext cx="4311316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Machine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 design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Replaceable bolts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maintenance </a:t>
            </a:r>
          </a:p>
        </p:txBody>
      </p:sp>
    </p:spTree>
    <p:extLst>
      <p:ext uri="{BB962C8B-B14F-4D97-AF65-F5344CB8AC3E}">
        <p14:creationId xmlns:p14="http://schemas.microsoft.com/office/powerpoint/2010/main" val="243011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3BEE-E688-EEFE-089C-BBE83C4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300958"/>
            <a:ext cx="5257800" cy="69365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E90DB78E-3051-6336-54BB-D38408B48114}"/>
              </a:ext>
            </a:extLst>
          </p:cNvPr>
          <p:cNvSpPr/>
          <p:nvPr/>
        </p:nvSpPr>
        <p:spPr>
          <a:xfrm>
            <a:off x="1942738" y="1652155"/>
            <a:ext cx="1610592" cy="1059872"/>
          </a:xfrm>
          <a:prstGeom prst="donut">
            <a:avLst>
              <a:gd name="adj" fmla="val 7726"/>
            </a:avLst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990453B7-D6EE-9A4C-98F1-3C1CFF689ADC}"/>
              </a:ext>
            </a:extLst>
          </p:cNvPr>
          <p:cNvSpPr/>
          <p:nvPr/>
        </p:nvSpPr>
        <p:spPr>
          <a:xfrm rot="5400000">
            <a:off x="2379818" y="3186684"/>
            <a:ext cx="736432" cy="484632"/>
          </a:xfrm>
          <a:prstGeom prst="stripedRightArrow">
            <a:avLst>
              <a:gd name="adj1" fmla="val 33153"/>
              <a:gd name="adj2" fmla="val 47993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D601C41E-F9C8-1808-CF78-38D2D016312E}"/>
              </a:ext>
            </a:extLst>
          </p:cNvPr>
          <p:cNvSpPr/>
          <p:nvPr/>
        </p:nvSpPr>
        <p:spPr>
          <a:xfrm>
            <a:off x="5378657" y="1652155"/>
            <a:ext cx="1610592" cy="1059872"/>
          </a:xfrm>
          <a:prstGeom prst="donut">
            <a:avLst>
              <a:gd name="adj" fmla="val 7726"/>
            </a:avLst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9B47F25D-FDFC-6C48-2038-477329AD5F75}"/>
              </a:ext>
            </a:extLst>
          </p:cNvPr>
          <p:cNvSpPr/>
          <p:nvPr/>
        </p:nvSpPr>
        <p:spPr>
          <a:xfrm>
            <a:off x="8814576" y="1652155"/>
            <a:ext cx="1610592" cy="1059872"/>
          </a:xfrm>
          <a:prstGeom prst="donut">
            <a:avLst>
              <a:gd name="adj" fmla="val 7726"/>
            </a:avLst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AA8EB-351F-4FF5-6603-6EE8523A0274}"/>
              </a:ext>
            </a:extLst>
          </p:cNvPr>
          <p:cNvSpPr txBox="1"/>
          <p:nvPr/>
        </p:nvSpPr>
        <p:spPr>
          <a:xfrm>
            <a:off x="2140114" y="1889703"/>
            <a:ext cx="12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988BD-0D74-0FAC-4CDF-03CC760894FF}"/>
              </a:ext>
            </a:extLst>
          </p:cNvPr>
          <p:cNvSpPr txBox="1"/>
          <p:nvPr/>
        </p:nvSpPr>
        <p:spPr>
          <a:xfrm>
            <a:off x="5576033" y="1889702"/>
            <a:ext cx="12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BC0D8-F06F-2B44-7F22-6B4DFFBBBF34}"/>
              </a:ext>
            </a:extLst>
          </p:cNvPr>
          <p:cNvSpPr txBox="1"/>
          <p:nvPr/>
        </p:nvSpPr>
        <p:spPr>
          <a:xfrm>
            <a:off x="9011952" y="1889702"/>
            <a:ext cx="12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D14646D4-2D5C-FC12-8145-35C52A5000AF}"/>
              </a:ext>
            </a:extLst>
          </p:cNvPr>
          <p:cNvSpPr/>
          <p:nvPr/>
        </p:nvSpPr>
        <p:spPr>
          <a:xfrm rot="5400000">
            <a:off x="5815737" y="3162229"/>
            <a:ext cx="736432" cy="484632"/>
          </a:xfrm>
          <a:prstGeom prst="stripedRightArrow">
            <a:avLst>
              <a:gd name="adj1" fmla="val 33153"/>
              <a:gd name="adj2" fmla="val 47993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1574D4A5-3138-0406-AE50-0DC73AB17B0D}"/>
              </a:ext>
            </a:extLst>
          </p:cNvPr>
          <p:cNvSpPr/>
          <p:nvPr/>
        </p:nvSpPr>
        <p:spPr>
          <a:xfrm rot="5400000">
            <a:off x="9251656" y="3186684"/>
            <a:ext cx="736432" cy="484632"/>
          </a:xfrm>
          <a:prstGeom prst="stripedRightArrow">
            <a:avLst>
              <a:gd name="adj1" fmla="val 33153"/>
              <a:gd name="adj2" fmla="val 47993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8A248C-2C58-7075-8298-9A87F86AA433}"/>
              </a:ext>
            </a:extLst>
          </p:cNvPr>
          <p:cNvSpPr/>
          <p:nvPr/>
        </p:nvSpPr>
        <p:spPr>
          <a:xfrm>
            <a:off x="1620256" y="4145974"/>
            <a:ext cx="2389745" cy="145272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&amp; Medium-scale farmers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Coconut Farm Owner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Laborers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 rental provides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ABBB0D-1E10-9A0D-57FD-B423E9F31793}"/>
              </a:ext>
            </a:extLst>
          </p:cNvPr>
          <p:cNvSpPr/>
          <p:nvPr/>
        </p:nvSpPr>
        <p:spPr>
          <a:xfrm>
            <a:off x="8387633" y="4145974"/>
            <a:ext cx="2389745" cy="145272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irect product sales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Rental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Spare parts (bolt, disc replacement)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2C0D53-1C9C-4EC4-FF8C-AFCD21B9A2CD}"/>
              </a:ext>
            </a:extLst>
          </p:cNvPr>
          <p:cNvSpPr/>
          <p:nvPr/>
        </p:nvSpPr>
        <p:spPr>
          <a:xfrm>
            <a:off x="5116239" y="4145974"/>
            <a:ext cx="2389745" cy="145272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ow-cost machine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machine (no sharp blades)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narrow farm spaces</a:t>
            </a:r>
          </a:p>
        </p:txBody>
      </p:sp>
    </p:spTree>
    <p:extLst>
      <p:ext uri="{BB962C8B-B14F-4D97-AF65-F5344CB8AC3E}">
        <p14:creationId xmlns:p14="http://schemas.microsoft.com/office/powerpoint/2010/main" val="2585931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: Hollow 1">
            <a:extLst>
              <a:ext uri="{FF2B5EF4-FFF2-40B4-BE49-F238E27FC236}">
                <a16:creationId xmlns:a16="http://schemas.microsoft.com/office/drawing/2014/main" id="{435366A1-5B87-1612-EF00-81D2A1190A76}"/>
              </a:ext>
            </a:extLst>
          </p:cNvPr>
          <p:cNvSpPr/>
          <p:nvPr/>
        </p:nvSpPr>
        <p:spPr>
          <a:xfrm>
            <a:off x="2785555" y="1652155"/>
            <a:ext cx="1610592" cy="1059872"/>
          </a:xfrm>
          <a:prstGeom prst="donut">
            <a:avLst>
              <a:gd name="adj" fmla="val 7726"/>
            </a:avLst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BD14AB2E-8221-322D-F3C0-4BFF4F2B5787}"/>
              </a:ext>
            </a:extLst>
          </p:cNvPr>
          <p:cNvSpPr/>
          <p:nvPr/>
        </p:nvSpPr>
        <p:spPr>
          <a:xfrm rot="5400000">
            <a:off x="3222635" y="3186684"/>
            <a:ext cx="736432" cy="484632"/>
          </a:xfrm>
          <a:prstGeom prst="stripedRightArrow">
            <a:avLst>
              <a:gd name="adj1" fmla="val 33153"/>
              <a:gd name="adj2" fmla="val 47993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71A89A2A-51F6-7E75-8EF1-3871270CC2C4}"/>
              </a:ext>
            </a:extLst>
          </p:cNvPr>
          <p:cNvSpPr/>
          <p:nvPr/>
        </p:nvSpPr>
        <p:spPr>
          <a:xfrm>
            <a:off x="7789818" y="1652155"/>
            <a:ext cx="1610592" cy="1059872"/>
          </a:xfrm>
          <a:prstGeom prst="donut">
            <a:avLst>
              <a:gd name="adj" fmla="val 7726"/>
            </a:avLst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BCF9F-BE7F-C0E0-2476-5A9490181EF7}"/>
              </a:ext>
            </a:extLst>
          </p:cNvPr>
          <p:cNvSpPr txBox="1"/>
          <p:nvPr/>
        </p:nvSpPr>
        <p:spPr>
          <a:xfrm>
            <a:off x="2982931" y="1889703"/>
            <a:ext cx="12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arketing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5D19D-BACA-3E5E-0010-D976E1CBCA1C}"/>
              </a:ext>
            </a:extLst>
          </p:cNvPr>
          <p:cNvSpPr txBox="1"/>
          <p:nvPr/>
        </p:nvSpPr>
        <p:spPr>
          <a:xfrm>
            <a:off x="7987193" y="1889702"/>
            <a:ext cx="130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35B3AC00-E854-CDE2-8472-80E2AD4E67CF}"/>
              </a:ext>
            </a:extLst>
          </p:cNvPr>
          <p:cNvSpPr/>
          <p:nvPr/>
        </p:nvSpPr>
        <p:spPr>
          <a:xfrm rot="5400000">
            <a:off x="8226898" y="3162229"/>
            <a:ext cx="736432" cy="484632"/>
          </a:xfrm>
          <a:prstGeom prst="stripedRightArrow">
            <a:avLst>
              <a:gd name="adj1" fmla="val 33153"/>
              <a:gd name="adj2" fmla="val 47993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86C8E0-079F-7E7B-E334-F5FFACAB8BA0}"/>
              </a:ext>
            </a:extLst>
          </p:cNvPr>
          <p:cNvSpPr/>
          <p:nvPr/>
        </p:nvSpPr>
        <p:spPr>
          <a:xfrm>
            <a:off x="2406316" y="4145973"/>
            <a:ext cx="2550695" cy="151689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field demonstration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dealer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 word-of-mouth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awareness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3969F1-00B3-F8EE-5D3C-800ED6AE0196}"/>
              </a:ext>
            </a:extLst>
          </p:cNvPr>
          <p:cNvSpPr/>
          <p:nvPr/>
        </p:nvSpPr>
        <p:spPr>
          <a:xfrm>
            <a:off x="7443539" y="4145973"/>
            <a:ext cx="2550695" cy="151689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Battery-operated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 system improvement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Multi-purpose attachment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B5FC4-B97B-7887-09CD-699EE6847BA3}"/>
              </a:ext>
            </a:extLst>
          </p:cNvPr>
          <p:cNvSpPr txBox="1"/>
          <p:nvPr/>
        </p:nvSpPr>
        <p:spPr>
          <a:xfrm>
            <a:off x="2675865" y="389334"/>
            <a:ext cx="684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&amp; FUTURE SCOPE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05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417D-6948-75AF-D4DF-5B7C9267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594" y="284914"/>
            <a:ext cx="5642811" cy="805949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637C0E-79E6-4C1A-32C8-D1CB97E80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79706"/>
              </p:ext>
            </p:extLst>
          </p:nvPr>
        </p:nvGraphicFramePr>
        <p:xfrm>
          <a:off x="2433975" y="1312278"/>
          <a:ext cx="7324049" cy="508852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67509">
                  <a:extLst>
                    <a:ext uri="{9D8B030D-6E8A-4147-A177-3AD203B41FA5}">
                      <a16:colId xmlns:a16="http://schemas.microsoft.com/office/drawing/2014/main" val="2699530108"/>
                    </a:ext>
                  </a:extLst>
                </a:gridCol>
                <a:gridCol w="1464135">
                  <a:extLst>
                    <a:ext uri="{9D8B030D-6E8A-4147-A177-3AD203B41FA5}">
                      <a16:colId xmlns:a16="http://schemas.microsoft.com/office/drawing/2014/main" val="2430749730"/>
                    </a:ext>
                  </a:extLst>
                </a:gridCol>
                <a:gridCol w="1464135">
                  <a:extLst>
                    <a:ext uri="{9D8B030D-6E8A-4147-A177-3AD203B41FA5}">
                      <a16:colId xmlns:a16="http://schemas.microsoft.com/office/drawing/2014/main" val="2110801606"/>
                    </a:ext>
                  </a:extLst>
                </a:gridCol>
                <a:gridCol w="1464135">
                  <a:extLst>
                    <a:ext uri="{9D8B030D-6E8A-4147-A177-3AD203B41FA5}">
                      <a16:colId xmlns:a16="http://schemas.microsoft.com/office/drawing/2014/main" val="3708524411"/>
                    </a:ext>
                  </a:extLst>
                </a:gridCol>
                <a:gridCol w="1464135">
                  <a:extLst>
                    <a:ext uri="{9D8B030D-6E8A-4147-A177-3AD203B41FA5}">
                      <a16:colId xmlns:a16="http://schemas.microsoft.com/office/drawing/2014/main" val="742540377"/>
                    </a:ext>
                  </a:extLst>
                </a:gridCol>
              </a:tblGrid>
              <a:tr h="240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(₹)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1690999706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 / Motor Unit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Petrol engine (brush cutter type)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2420900337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 Shaft Assembly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Inner flexible shaft + outer pipe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947159142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 Bar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Adjustable dual handle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2950284842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Throttle Control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 + cable system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3444296870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 Head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 gearbox for rotation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1229411289"/>
                  </a:ext>
                </a:extLst>
              </a:tr>
              <a:tr h="240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/ Mount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structure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3035882193"/>
                  </a:ext>
                </a:extLst>
              </a:tr>
              <a:tr h="240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Fasteners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Nuts, bolts, clamps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3580960730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Spiked Disc Plate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laser cut circular plate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2172889410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Bolts (Spikes)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strength bolts (spike purpose)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10–12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1368012866"/>
                  </a:ext>
                </a:extLst>
              </a:tr>
              <a:tr h="240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Nuts &amp; Washers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bolt fixing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3039719078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 Hub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 mounting support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2501535308"/>
                  </a:ext>
                </a:extLst>
              </a:tr>
              <a:tr h="4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Laser Cutting Charges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 fabrication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3418245805"/>
                  </a:ext>
                </a:extLst>
              </a:tr>
              <a:tr h="240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48" marR="48348" marT="24174" marB="241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₹6800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48" marR="48348" marT="24174" marB="24174" anchor="ctr"/>
                </a:tc>
                <a:extLst>
                  <a:ext uri="{0D108BD9-81ED-4DB2-BD59-A6C34878D82A}">
                    <a16:rowId xmlns:a16="http://schemas.microsoft.com/office/drawing/2014/main" val="419885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91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682B-71FB-8861-B654-4A1B8D77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626" y="308935"/>
            <a:ext cx="6380747" cy="74420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5DA1D3-3A36-0901-1506-2F0931098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622" y="1767086"/>
            <a:ext cx="526297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removed weeds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operation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root damage observed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operate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50EC0-2533-767A-BD73-14B1D05C5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47" y="1999049"/>
            <a:ext cx="3840852" cy="28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37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AA27-EA85-CE0C-41E6-5B5E2D15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447" y="300914"/>
            <a:ext cx="4231105" cy="760246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DE0C-19C1-58E8-F4D2-3EC13D22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330" y="1789530"/>
            <a:ext cx="9653337" cy="160337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developed a low-cost, lightweight power weeder that improves efficiency and reduces labor dependency in coconut farming.</a:t>
            </a:r>
          </a:p>
        </p:txBody>
      </p:sp>
    </p:spTree>
    <p:extLst>
      <p:ext uri="{BB962C8B-B14F-4D97-AF65-F5344CB8AC3E}">
        <p14:creationId xmlns:p14="http://schemas.microsoft.com/office/powerpoint/2010/main" val="28282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7C81DB-E485-DE8A-34DB-0E81777C0CFF}"/>
              </a:ext>
            </a:extLst>
          </p:cNvPr>
          <p:cNvSpPr txBox="1"/>
          <p:nvPr/>
        </p:nvSpPr>
        <p:spPr>
          <a:xfrm>
            <a:off x="4282106" y="3044279"/>
            <a:ext cx="3627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656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502</Words>
  <Application>Microsoft Office PowerPoint</Application>
  <PresentationFormat>Widescreen</PresentationFormat>
  <Paragraphs>165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PROJECT JOURNEY</vt:lpstr>
      <vt:lpstr>PROBLEM STATEMENT </vt:lpstr>
      <vt:lpstr>EXISTING SYSTEM ISSUES</vt:lpstr>
      <vt:lpstr>PROPOSED SOLUTION</vt:lpstr>
      <vt:lpstr>DESIGN EVOLUTION</vt:lpstr>
      <vt:lpstr>PowerPoint Presentation</vt:lpstr>
      <vt:lpstr>FINAL PRODUCT IMAGE</vt:lpstr>
      <vt:lpstr>KEY FEATURES &amp; ADVANTAGES</vt:lpstr>
      <vt:lpstr>BUSINESS MODEL</vt:lpstr>
      <vt:lpstr>PowerPoint Presentation</vt:lpstr>
      <vt:lpstr>COST ESTIMATION</vt:lpstr>
      <vt:lpstr>RESULTS &amp; TESTING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AMBIKA B</dc:creator>
  <cp:lastModifiedBy>AMBIKA B</cp:lastModifiedBy>
  <cp:revision>2</cp:revision>
  <dcterms:created xsi:type="dcterms:W3CDTF">2026-05-04T17:37:16Z</dcterms:created>
  <dcterms:modified xsi:type="dcterms:W3CDTF">2026-05-05T05:23:27Z</dcterms:modified>
</cp:coreProperties>
</file>