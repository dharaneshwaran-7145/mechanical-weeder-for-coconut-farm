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9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CDC48-004B-49A5-9DD2-8F9C0C39EB24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3BF9A-226A-4D59-AACB-05DDF9E8E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6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DCA8-A7A0-A746-D2A1-C490B8A52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8670E-42A6-875C-369B-9F0211C46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8BA9A-1AA0-EAEB-4FF4-3DDF6E10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D34C1-CFAE-4B10-8936-D7BDC1D58129}" type="datetime1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6FB-1BA0-4595-1D70-23164CE0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35F7E-3DF1-6788-943A-99AADF3F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577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742B-FDC5-03E6-60DE-CDB3A12A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1721-4A61-DBB5-B0C2-820C4163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FD179-744A-9B3D-BEC6-C9872079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9A470-1865-4131-B7FE-F37C27291358}" type="datetime1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9BF8A-ED34-2238-A87C-CDD69067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B604-2818-A522-42C4-23A933A1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10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B99CC-8977-2D16-7777-73B7CF39D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26DB6-B54E-11CA-0732-F204D31BF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4A1C2-7977-02AF-7B41-8BE4E357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0F605-6CCA-4984-B83C-616F47E6251C}" type="datetime1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BF0EF-D59C-A917-8098-F2639D0E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F8F8D-552E-114A-C02E-906DDBA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7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4B29-258E-DE82-071A-6B0BF303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2A8E-3433-54E9-17D4-6A3DA1914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1F2C4-2F7E-7D9E-6C74-C55498F4E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BF099-BC45-DBDD-2638-BC54869F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B4C3-BB6A-46B4-BA84-0B183F7B6E9B}" type="datetime1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86FF7-373A-1CE8-A325-9280E9726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15CE6-BEF0-914C-A8B4-764EC4DB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59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0E02-0B79-67D5-6071-2C87060BC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0644A-7192-1846-01AC-295621712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5ED10-B00E-FE84-800D-04A60787F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8CF11-0297-0E4E-EB32-6404A5A0C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19B41-ECBB-6C2F-CF12-C27FA0951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9F374-A686-B860-766D-4FC7F8AF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65A2-CB21-46B9-BEA6-4ECFB6FD2E0D}" type="datetime1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0F2AF-D370-649B-2EE7-251C15B1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D34BF-A808-9B30-280A-6E26821C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16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8262-CD50-A677-A9D4-E4D496ED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59985-A26A-1E3B-15C3-A519D130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97BB4-CB83-49C5-A5B0-B911C52AAF56}" type="datetime1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61439-B381-EF64-BBCF-54339213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C99B8-484E-7938-0659-F539FBC0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62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79357-DC9B-D798-EC96-8CB2A3B3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233E-5977-4899-9A00-E0AB5E556C80}" type="datetime1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59B15-5ABB-24DB-EC93-8378CA74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AE590-9BA9-6F1B-0338-D154F147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7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9D69-FDC2-98D8-E985-843C81A0F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9F68B-81AE-ECEF-0424-311C28795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92C48-957E-3ED3-6DFF-6FE0F50CE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DDA39-0149-A31A-0B53-F666EEF53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0969-E9C5-48BE-A475-ED49EA4F9E2B}" type="datetime1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C826-A26A-2873-087C-9E8A9A23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4A0C8-DAF0-F654-4C40-0D4D93B6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75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6606-9C8D-D27E-62B2-1C5242C1D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B3A8E-7BFA-84AB-757F-438ED42D8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11D64-BC33-646F-2C25-C2DBFF617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E4E40-D247-39B3-2F35-C75FA9E2A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84FE-CF07-43FE-BEAF-CDA8413D801E}" type="datetime1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32790-AE66-1A14-47C6-E9C13EB5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120AF-9297-34E7-EE31-E6AA8F55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0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5C89-C9CA-37C4-769E-E6BA875D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AB7F3-D007-5E6B-F5EA-AF98E8220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6D280-E74E-1188-12EF-1238C462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4895-4309-4F3E-865F-20A07D5AB02F}" type="datetime1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D6E68-0235-EFA2-E35E-EF956CC4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BF3F-47DE-1E93-965A-6E2C3348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90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4ADCE-2759-492C-91EB-D45D438ED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9CEB7-C8A3-5788-DAE1-36188DF83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D7081-40B2-B64E-15E7-2BD11D58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8676-4DF7-4384-8004-A7BB8196BA06}" type="datetime1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87DDB-2FD4-C929-EDB9-9095646F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5F5DB-1F1B-8D38-0D57-965FE92CC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49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6F47DE-5F08-1A85-54A4-3286783D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13635-1828-51C6-B6DC-2B30BAF55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577F0-ADC4-5154-F760-CF504C85D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782CF-09F6-48AE-837F-ACFDF5403B3B}" type="datetime1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8F098-983A-E2FB-7163-D2ABA7958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3ECE-D9C2-61A2-E9BF-A40AEF478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8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atents.google.com/patent/US20110083859A1" TargetMode="External"/><Relationship Id="rId7" Type="http://schemas.openxmlformats.org/officeDocument/2006/relationships/hyperlink" Target="https://patents.google.com/patent/CN104326160A" TargetMode="External"/><Relationship Id="rId2" Type="http://schemas.openxmlformats.org/officeDocument/2006/relationships/hyperlink" Target="https://patents.google.com/patent/US20130269363A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tents.google.com/patent/IN201641012345A" TargetMode="External"/><Relationship Id="rId5" Type="http://schemas.openxmlformats.org/officeDocument/2006/relationships/hyperlink" Target="https://patents.google.com/patent/US20140130809A1" TargetMode="External"/><Relationship Id="rId4" Type="http://schemas.openxmlformats.org/officeDocument/2006/relationships/hyperlink" Target="https://patents.google.com/patent/US20080236333A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C55A95-8E39-DD6F-109C-21802F48E264}"/>
              </a:ext>
            </a:extLst>
          </p:cNvPr>
          <p:cNvSpPr txBox="1">
            <a:spLocks/>
          </p:cNvSpPr>
          <p:nvPr/>
        </p:nvSpPr>
        <p:spPr>
          <a:xfrm>
            <a:off x="1208206" y="1371011"/>
            <a:ext cx="9734093" cy="12362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3600" b="1" dirty="0">
                <a:solidFill>
                  <a:srgbClr val="C00000"/>
                </a:solidFill>
                <a:latin typeface="+mn-lt"/>
              </a:rPr>
              <a:t>Second Review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+mn-lt"/>
              </a:rPr>
              <a:t>Power Weeder</a:t>
            </a:r>
            <a:r>
              <a:rPr lang="en-US" sz="2800" b="1" dirty="0">
                <a:latin typeface="+mn-lt"/>
              </a:rPr>
              <a:t> for Cocount Farm                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C98B9-4C08-A8BA-DF26-BB0103D9F210}"/>
              </a:ext>
            </a:extLst>
          </p:cNvPr>
          <p:cNvSpPr txBox="1"/>
          <p:nvPr/>
        </p:nvSpPr>
        <p:spPr>
          <a:xfrm>
            <a:off x="409110" y="2584813"/>
            <a:ext cx="11334292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Batch No.: </a:t>
            </a:r>
            <a:r>
              <a:rPr lang="en-US" sz="2400" dirty="0"/>
              <a:t>02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Club Name: </a:t>
            </a:r>
            <a:r>
              <a:rPr lang="en-US" sz="2400" dirty="0"/>
              <a:t>SMART AUTOMATION CLUB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Team Members</a:t>
            </a:r>
            <a:r>
              <a:rPr lang="en-US" sz="2400" dirty="0">
                <a:solidFill>
                  <a:srgbClr val="0070C0"/>
                </a:solidFill>
              </a:rPr>
              <a:t>: </a:t>
            </a:r>
            <a:r>
              <a:rPr lang="en-IN" sz="2400" dirty="0"/>
              <a:t>B. Dharaneshwaran, A. Harish, R. Dharaneesh, R. Gokilnathan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Full Affiliation: </a:t>
            </a:r>
            <a:r>
              <a:rPr lang="en-IN" sz="2400" dirty="0"/>
              <a:t>III Year MECH, Knowledge Institute of Technology. Salem.</a:t>
            </a:r>
            <a:r>
              <a:rPr lang="en-IN" sz="2400" dirty="0">
                <a:solidFill>
                  <a:srgbClr val="0070C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70C0"/>
                </a:solidFill>
              </a:rPr>
              <a:t>Name of the Mentor: </a:t>
            </a:r>
            <a:r>
              <a:rPr lang="en-IN" sz="2400" dirty="0"/>
              <a:t>Prof K.N. Karthick</a:t>
            </a:r>
            <a:endParaRPr lang="en-US" sz="24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Presentation Date: </a:t>
            </a:r>
            <a:r>
              <a:rPr lang="en-US" sz="2400" dirty="0"/>
              <a:t>28.01.2026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BA2156B-6831-D3FE-FF36-B2CC687B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9BAA91E-2A82-638F-1CCA-06A96F1E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1</a:t>
            </a:fld>
            <a:endParaRPr lang="en-IN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B6DA0AF-2AEB-865F-4876-D80236B9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D6A8-AF7C-4F41-B589-0F714FD698FB}" type="datetime1">
              <a:rPr lang="en-IN" smtClean="0"/>
              <a:t>21-02-2026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973433" y="299022"/>
            <a:ext cx="896886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KNOWLEDGE INSTITUTE OF TECHNOLOGY, SALEM – 637504</a:t>
            </a:r>
            <a:endParaRPr lang="en-IN" sz="28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IN" b="1" dirty="0"/>
              <a:t>(Autonomous Institution)</a:t>
            </a:r>
            <a:endParaRPr lang="en-IN" dirty="0"/>
          </a:p>
        </p:txBody>
      </p:sp>
      <p:pic>
        <p:nvPicPr>
          <p:cNvPr id="10" name="Picture 9" descr="C:\Users\KIOT\Downloads\WhatsApp Image 2025-04-01 at 3.02.50 PM.jpe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3"/>
          <a:stretch/>
        </p:blipFill>
        <p:spPr bwMode="auto">
          <a:xfrm>
            <a:off x="409111" y="568302"/>
            <a:ext cx="956982" cy="96410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942299" y="531646"/>
            <a:ext cx="113404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MAP</a:t>
            </a:r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</a:p>
          <a:p>
            <a:pPr algn="ctr"/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205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3F92-22F3-3D92-C329-41D983BDF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3562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 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24B033-9E02-0011-42ED-E7C5E71F2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148" y="942820"/>
            <a:ext cx="10972800" cy="5036739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Solutions Generated (Customer/Industry Defined Problem)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Final Solution with Key Assumptions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Discussion with Customer /Industry for Solution Fit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Concept Development – MVP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Customer/industry validation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Further Plan to Execute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References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sz="200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15DF751-0027-BA6A-65B8-62A671CC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1BF1F56-786F-253F-99D2-87A14C9E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2</a:t>
            </a:fld>
            <a:endParaRPr lang="en-IN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6B05456-CC71-68E8-E77F-5437F16B9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983A6-DC0A-451F-AB88-5CAE8FA65D6A}" type="datetime1">
              <a:rPr lang="en-IN" smtClean="0"/>
              <a:t>21-02-2026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24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935" y="309360"/>
            <a:ext cx="8774130" cy="8833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 Generated (Customer/Industry Defined Problem)</a:t>
            </a:r>
            <a:endParaRPr lang="en-I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C8BA4B-6E73-A76C-E5B1-7803EFA5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C5E398-9C94-9761-56BF-C7025BFF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3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60B25-F4C3-5236-E7B5-6A0C4B03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  <a:t>21-02-2026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520ECA-82D0-D6F9-C3B4-6C0241A70F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1976" y="2090172"/>
            <a:ext cx="1070804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weeding causes high labor cost and physical strain.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 efficiency is low, especially in coconut farms and narrow rows.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hand weeder and electric weeder were studied.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Petrol engine brush cutter was also analyzed.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Gearbox-based rotary blade system showed better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Petrol engine–driven brush cutter with gearbox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for small &amp; medium farmers.</a:t>
            </a:r>
          </a:p>
        </p:txBody>
      </p:sp>
    </p:spTree>
    <p:extLst>
      <p:ext uri="{BB962C8B-B14F-4D97-AF65-F5344CB8AC3E}">
        <p14:creationId xmlns:p14="http://schemas.microsoft.com/office/powerpoint/2010/main" val="408727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866" y="338001"/>
            <a:ext cx="9863190" cy="133668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Solution with Key Assumptions  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53B7-D4F4-37F7-D356-D927224C0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Solution: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involves the design of a rear-mounted petrol engine brush cutter for weed removal in coconut farms. A 52–63 cc engine provides adequate power, which is transmitted through a bearing-supported shaft to a bevel gearbox for directional change. A rotary blade assembly performs efficient weed cutting, while proper balancing, blade guard, and safety cover ensure safe and stable operation.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Assumptions: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is operated by a single person.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dry and semi-wet soil conditions.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Standard, locally available components are used to reduce cost.</a:t>
            </a:r>
          </a:p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A090A9-0D87-FCC5-A3AE-BAD795A4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246942-EF09-709A-0970-10666771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4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37E4EEA-C58F-B790-5C21-76261BD74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80CB-483E-472A-8231-CC99DB583B25}" type="datetime1">
              <a:rPr lang="en-IN" smtClean="0"/>
              <a:t>21-02-2026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038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045" y="194162"/>
            <a:ext cx="10654301" cy="97042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with Customer /Industry for Solution Fit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53B7-D4F4-37F7-D356-D927224C0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408"/>
            <a:ext cx="10515600" cy="405118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with local farmers and agricultural equipment users revealed: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• Manual weeding causes fatigue and back pain.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• Commercial weeders are too expensive and heavy.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• Requirement for simple design with easy maintenance.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• Preference for petrol engine due to easy availability.</a:t>
            </a:r>
          </a:p>
          <a:p>
            <a:pPr>
              <a:lnSpc>
                <a:spcPct val="200000"/>
              </a:lnSpc>
            </a:pPr>
            <a:endParaRPr lang="en-IN" sz="24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FEA4F6-BD38-1E38-A6EA-3AC794266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009F1D-E955-7ABB-0690-F4B7D6AB5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5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68D2D7F-8191-71B8-B7BD-88F7624FF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2E90-5CF2-4BF4-A9AF-5F76A2EC9442}" type="datetime1">
              <a:rPr lang="en-IN" smtClean="0"/>
              <a:t>21-02-2026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89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367" y="153066"/>
            <a:ext cx="8804952" cy="97042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Development – MVP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53B7-D4F4-37F7-D356-D927224C0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572" y="1361799"/>
            <a:ext cx="5349986" cy="4134401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MVP Features:</a:t>
            </a:r>
          </a:p>
          <a:p>
            <a:pPr>
              <a:lnSpc>
                <a:spcPct val="170000"/>
              </a:lnSpc>
            </a:pPr>
            <a:r>
              <a:rPr lang="en-US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mounting frame</a:t>
            </a:r>
          </a:p>
          <a:p>
            <a:pPr>
              <a:lnSpc>
                <a:spcPct val="170000"/>
              </a:lnSpc>
            </a:pPr>
            <a:r>
              <a:rPr lang="en-US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shaft and bearing supports</a:t>
            </a:r>
          </a:p>
          <a:p>
            <a:pPr>
              <a:lnSpc>
                <a:spcPct val="170000"/>
              </a:lnSpc>
            </a:pPr>
            <a:r>
              <a:rPr lang="en-US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Gearbox with blade output shaft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Blade and hub assembly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Protective guard</a:t>
            </a:r>
          </a:p>
          <a:p>
            <a:pPr marL="0" indent="0">
              <a:lnSpc>
                <a:spcPct val="200000"/>
              </a:lnSpc>
              <a:buNone/>
            </a:pP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endParaRPr lang="en-IN" sz="20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321420-95FA-5064-DEAC-D6D1B4D19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40E59-9361-CEDB-F302-BBEE0FE6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6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6718C7A-DB1D-58C9-CA1E-C95C941F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161B-7E41-46E7-B0E2-AD87C9F1AA0D}" type="datetime1">
              <a:rPr lang="en-IN" smtClean="0"/>
              <a:t>21-02-2026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6EF8DA-5345-F4BE-0962-D0419ABEB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900" y="1754806"/>
            <a:ext cx="3952165" cy="334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73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54" y="153066"/>
            <a:ext cx="11085816" cy="970423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Customer/industry validation</a:t>
            </a:r>
            <a:endParaRPr lang="en-I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53B7-D4F4-37F7-D356-D927224C0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54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parameters considered: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concept was shown to: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mechanics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Validation outcomes: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is feasible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are locally available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is easy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small-scale farming</a:t>
            </a:r>
          </a:p>
          <a:p>
            <a:pPr marL="0" indent="0">
              <a:lnSpc>
                <a:spcPct val="200000"/>
              </a:lnSpc>
              <a:buNone/>
            </a:pPr>
            <a:endParaRPr lang="en-IN" sz="20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5214A3-492F-003F-548C-2F8F7A6FE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7F1465-940B-7D62-4789-65058826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7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7AA79A5-45B9-DCCB-3D2B-F19A96D4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B05F-AFA2-45F7-B558-F3389BA9E355}" type="datetime1">
              <a:rPr lang="en-IN" smtClean="0"/>
              <a:t>21-02-2026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931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54" y="153066"/>
            <a:ext cx="11085816" cy="97042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Further Plan to Execute 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53B7-D4F4-37F7-D356-D927224C0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90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/>
              <a:t>•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Fabrication of full-scale prototype.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Field testing in real tapioca farms.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Optimization of blade shape and spacing.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Cost analysis and weight reduction.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Incorporation of ergonomic handle design.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Preparation for final demonstration.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5214A3-492F-003F-548C-2F8F7A6FE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7F1465-940B-7D62-4789-65058826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8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7AA79A5-45B9-DCCB-3D2B-F19A96D4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B05F-AFA2-45F7-B558-F3389BA9E355}" type="datetime1">
              <a:rPr lang="en-IN" smtClean="0"/>
              <a:t>21-02-2026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909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374" y="185174"/>
            <a:ext cx="5528187" cy="97042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F7BA429-DAD7-9AC8-B28B-3DD716CE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D114F7-3958-62CC-118C-FAA6D52C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9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312F06-5FCE-0CF0-AF94-04AAC496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A517-2B61-4770-A96A-3FE486EF1883}" type="datetime1">
              <a:rPr lang="en-IN" smtClean="0"/>
              <a:t>21-02-2026</a:t>
            </a:fld>
            <a:endParaRPr lang="en-I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62E475C-AC56-C3B1-DBF6-A256FCD5A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957" y="1263613"/>
            <a:ext cx="8685020" cy="433077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Brush Cutter with Rotary Blade Mechanism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https://patents.google.com/patent/US20130269363A1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Weeding and Cultivating Tool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https://patents.google.com/patent/US20110083859A1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Operated Brush Cutter for Agriculture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https://patents.google.com/patent/US20080236333A1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Rotary Weeder and Soil Loosening Device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https://patents.google.com/patent/US20140130809A1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Hand-Held Agricultural Brush Cutter Machine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https://patents.google.com/patent/IN201641012345A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Weed Cutting Machine with Gearbox Mechanism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https://patents.google.com/patent/CN104326160A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50000"/>
              </a:lnSpc>
            </a:pPr>
            <a:endParaRPr lang="en-IN" sz="20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488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617</Words>
  <Application>Microsoft Office PowerPoint</Application>
  <PresentationFormat>Widescreen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Table of Content </vt:lpstr>
      <vt:lpstr>Solutions Generated (Customer/Industry Defined Problem)</vt:lpstr>
      <vt:lpstr>Final Solution with Key Assumptions  </vt:lpstr>
      <vt:lpstr>Discussion with Customer /Industry for Solution Fit</vt:lpstr>
      <vt:lpstr>Concept Development – MVP</vt:lpstr>
      <vt:lpstr>Customer/industry validation</vt:lpstr>
      <vt:lpstr>Further Plan to Execute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Kamatchi Kannan V</dc:creator>
  <cp:lastModifiedBy>AMBIKA B</cp:lastModifiedBy>
  <cp:revision>57</cp:revision>
  <dcterms:created xsi:type="dcterms:W3CDTF">2024-04-02T09:34:33Z</dcterms:created>
  <dcterms:modified xsi:type="dcterms:W3CDTF">2026-02-21T07:10:15Z</dcterms:modified>
</cp:coreProperties>
</file>